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sldIdLst>
    <p:sldId id="256" r:id="rId2"/>
    <p:sldId id="268" r:id="rId3"/>
    <p:sldId id="269" r:id="rId4"/>
    <p:sldId id="257" r:id="rId5"/>
    <p:sldId id="264" r:id="rId6"/>
    <p:sldId id="265" r:id="rId7"/>
    <p:sldId id="263" r:id="rId8"/>
    <p:sldId id="258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0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26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9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1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9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6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4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3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02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8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3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62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5012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764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94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95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41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7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37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770" y="2509460"/>
            <a:ext cx="7072131" cy="232875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Overview – Ticket Management System</a:t>
            </a:r>
            <a:endParaRPr b="1" dirty="0">
              <a:solidFill>
                <a:schemeClr val="accent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389" y="5840716"/>
            <a:ext cx="2720051" cy="6858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Created by: Bainaboina Lokesh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2D212-93DF-C45A-1B0F-E93E97D8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atin typeface="Segoe UI" panose="020B0502040204020203" pitchFamily="34" charset="0"/>
                <a:cs typeface="Segoe UI" panose="020B0502040204020203" pitchFamily="34" charset="0"/>
              </a:rPr>
              <a:t>Project 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CE7FC-4BE0-D305-ACD2-CDADC0178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è"/>
            </a:pPr>
            <a:r>
              <a:rPr lang="en-US" b="1" dirty="0"/>
              <a:t>This project demonstrates a complete Ticket/Case Management Workflow designed using Microsoft Excel.</a:t>
            </a:r>
          </a:p>
          <a:p>
            <a:pPr marL="0" indent="0" algn="just">
              <a:buNone/>
            </a:pP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It simulates how internal support teams (like Learning Operations, IT Support, and Service Desk teams) manage requests, track SLAs, monitor overdue cases, and report status through dashboards.</a:t>
            </a: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18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4815-7EE4-3F22-B2A7-BD6085A69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AD6C-CC83-995A-E14E-0496A22CF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3" y="520860"/>
            <a:ext cx="8981954" cy="625032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project includes: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A </a:t>
            </a:r>
            <a:r>
              <a:rPr lang="en-US" b="1" dirty="0"/>
              <a:t>Ticket Tracking System</a:t>
            </a:r>
            <a:r>
              <a:rPr lang="en-US" dirty="0"/>
              <a:t> with realistic fields such as Priority,       Status, SLA, Assigned To, and Overdue checks.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 </a:t>
            </a:r>
            <a:r>
              <a:rPr lang="en-US" b="1" dirty="0"/>
              <a:t>Automated formulas</a:t>
            </a:r>
            <a:r>
              <a:rPr lang="en-US" dirty="0"/>
              <a:t> for SLA due dates, overdue detection, and performance metrics.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dirty="0"/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A </a:t>
            </a:r>
            <a:r>
              <a:rPr lang="en-US" b="1" dirty="0"/>
              <a:t>Dashboard sheet</a:t>
            </a:r>
            <a:r>
              <a:rPr lang="en-US" dirty="0"/>
              <a:t> showcasing key KPIs like Total Tickets, Overdue Tickets, Priority Distribution, Status Breakdown, and Agent Workload.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b="1" dirty="0"/>
          </a:p>
          <a:p>
            <a:pPr>
              <a:buFont typeface="Wingdings" panose="05000000000000000000" pitchFamily="2" charset="2"/>
              <a:buChar char="è"/>
            </a:pPr>
            <a:r>
              <a:rPr lang="en-US" b="1" dirty="0"/>
              <a:t>Data visualizations</a:t>
            </a:r>
            <a:r>
              <a:rPr lang="en-US" dirty="0"/>
              <a:t> including pie charts, bar charts, and KPI cards similar to Jira/ServiceNow dashboards.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dirty="0"/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An end-to-end workflow that reflects how a ticket moves from 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0000"/>
                </a:solidFill>
                <a:highlight>
                  <a:srgbClr val="008000"/>
                </a:highlight>
              </a:rPr>
              <a:t>New → Assigned → In Progress → Completed → Closed</a:t>
            </a:r>
            <a:r>
              <a:rPr lang="en-US" sz="2600" dirty="0">
                <a:solidFill>
                  <a:srgbClr val="FF0000"/>
                </a:solidFill>
                <a:highlight>
                  <a:srgbClr val="008000"/>
                </a:highlight>
              </a:rPr>
              <a:t>.</a:t>
            </a:r>
          </a:p>
          <a:p>
            <a:pPr marL="0" indent="0">
              <a:buNone/>
            </a:pPr>
            <a:endParaRPr lang="en-US" dirty="0">
              <a:highlight>
                <a:srgbClr val="008000"/>
              </a:highlight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Overall, this project highlights Excel’s ability to perform </a:t>
            </a:r>
            <a:r>
              <a:rPr lang="en-US" b="1" dirty="0"/>
              <a:t>process automation, SLA monitoring, and dashboard reporting</a:t>
            </a:r>
            <a:r>
              <a:rPr lang="en-US" dirty="0"/>
              <a:t>, making it useful for operational, administrative, and analytics roles.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847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Dashboard Highlights 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📊 Displays real-time ticket metrics using Excel formulas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📌 Shows Status, Priority, Overdue vs On-Time breakdown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👥 Visual comparison of tickets assigned to each agent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🔄 Automatically updates when new tickets are added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📑 Designed in a separate dashboard sheet for clarity</a:t>
            </a:r>
          </a:p>
          <a:p>
            <a:r>
              <a:rPr>
                <a:latin typeface="Segoe UI" panose="020B0502040204020203" pitchFamily="34" charset="0"/>
                <a:cs typeface="Segoe UI" panose="020B0502040204020203" pitchFamily="34" charset="0"/>
              </a:rPr>
              <a:t>🎨 Professionally color-coded KPI cards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3654-B00C-9F69-979B-B7858443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35" y="292703"/>
            <a:ext cx="6377940" cy="1293028"/>
          </a:xfrm>
        </p:spPr>
        <p:txBody>
          <a:bodyPr>
            <a:norm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Pie-Charts</a:t>
            </a:r>
            <a:endParaRPr lang="en-IN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076C36A0-E395-A7E3-8CB7-554AE1567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96" y="1585731"/>
            <a:ext cx="3538191" cy="432000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7B9A93-932B-C274-B325-A96BE854E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587" y="1585732"/>
            <a:ext cx="413414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09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7CC9-BF3F-2680-9A78-90CD6711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670888"/>
          </a:xfrm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ea typeface="MS UI Gothic" panose="020B0600070205080204" pitchFamily="34" charset="-128"/>
                <a:cs typeface="Segoe UI" panose="020B0502040204020203" pitchFamily="34" charset="0"/>
              </a:rPr>
              <a:t>Bar - Charts</a:t>
            </a:r>
            <a:endParaRPr lang="en-IN" b="1" dirty="0">
              <a:latin typeface="Segoe UI" panose="020B0502040204020203" pitchFamily="34" charset="0"/>
              <a:ea typeface="MS UI Gothic" panose="020B0600070205080204" pitchFamily="34" charset="-128"/>
              <a:cs typeface="Segoe UI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F54A42-B835-29B6-3D7C-49EC19C340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0645" y="1604985"/>
            <a:ext cx="3320364" cy="45021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193A4E-8BBA-DA3B-7F9D-2E7C199F1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06" y="1637559"/>
            <a:ext cx="3320364" cy="444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3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22641"/>
          </a:xfrm>
        </p:spPr>
        <p:txBody>
          <a:bodyPr/>
          <a:lstStyle/>
          <a:p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Dashboard Visual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156D3-4386-1608-DFB1-6B5CC7D707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804" t="1786" r="7990" b="25739"/>
          <a:stretch>
            <a:fillRect/>
          </a:stretch>
        </p:blipFill>
        <p:spPr>
          <a:xfrm>
            <a:off x="46300" y="1137212"/>
            <a:ext cx="8984494" cy="56224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894" y="117859"/>
            <a:ext cx="7540906" cy="1293028"/>
          </a:xfrm>
        </p:spPr>
        <p:txBody>
          <a:bodyPr/>
          <a:lstStyle/>
          <a:p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All Excel </a:t>
            </a:r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Formulas</a:t>
            </a:r>
            <a:r>
              <a:rPr b="1" dirty="0">
                <a:latin typeface="Segoe UI" panose="020B0502040204020203" pitchFamily="34" charset="0"/>
                <a:cs typeface="Segoe UI" panose="020B0502040204020203" pitchFamily="34" charset="0"/>
              </a:rPr>
              <a:t> Used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0F56787-FCBC-4A09-0AE9-C805D2B991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949927"/>
              </p:ext>
            </p:extLst>
          </p:nvPr>
        </p:nvGraphicFramePr>
        <p:xfrm>
          <a:off x="457200" y="1261642"/>
          <a:ext cx="8229600" cy="53217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65840896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3876934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54274974"/>
                    </a:ext>
                  </a:extLst>
                </a:gridCol>
              </a:tblGrid>
              <a:tr h="32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Category</a:t>
                      </a:r>
                      <a:endParaRPr lang="en-IN" sz="1300" dirty="0"/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/>
                        <a:t>Purpose</a:t>
                      </a:r>
                      <a:endParaRPr lang="en-IN" sz="1300" dirty="0"/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Formula</a:t>
                      </a:r>
                      <a:endParaRPr lang="en-IN" sz="1300"/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510488"/>
                  </a:ext>
                </a:extLst>
              </a:tr>
              <a:tr h="80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Ticket ID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/>
                        <a:t>Auto-generate unique IDs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>
                          <a:latin typeface="Courier New" panose="02070309020205020404" pitchFamily="49" charset="0"/>
                        </a:rPr>
                        <a:t>"TCK-" &amp; TEXT(ROW()-1,"000")</a:t>
                      </a:r>
                      <a:endParaRPr lang="en-US" sz="1300" b="0" dirty="0"/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012878"/>
                  </a:ext>
                </a:extLst>
              </a:tr>
              <a:tr h="564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SLA Due Date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/>
                        <a:t>Add SLA hours to Created Date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Courier New" panose="02070309020205020404" pitchFamily="49" charset="0"/>
                        </a:rPr>
                        <a:t>=IF(G2="","", G2 + (F2/24))</a:t>
                      </a:r>
                      <a:endParaRPr lang="en-IN" sz="1300" b="0" dirty="0"/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651334"/>
                  </a:ext>
                </a:extLst>
              </a:tr>
              <a:tr h="1773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Overdue Check (Basic)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/>
                        <a:t>Mark ticket as overdue if past SLA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>
                          <a:latin typeface="Courier New" panose="02070309020205020404" pitchFamily="49" charset="0"/>
                        </a:rPr>
                        <a:t>=IF(G2="","", IF(AND(D2&lt;&gt;"Completed", D2&lt;&gt;"Closed", NOW() &gt; H2), "Overdue", "On-Time"))</a:t>
                      </a:r>
                      <a:endParaRPr lang="en-US" sz="1300" b="0" dirty="0"/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938092"/>
                  </a:ext>
                </a:extLst>
              </a:tr>
              <a:tr h="1532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Overdue Check (Improved)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/>
                        <a:t>Prevent marking Completed/Closed as overdue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>
                          <a:latin typeface="Courier New" panose="02070309020205020404" pitchFamily="49" charset="0"/>
                        </a:rPr>
                        <a:t>=IF(G2="","", IF(OR(D2="Completed", D2="Closed"), "On-Time", IF(NOW()&gt;H2,"Overdue","On-Time")))</a:t>
                      </a:r>
                      <a:endParaRPr lang="en-US" sz="1300" b="0" dirty="0"/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220169"/>
                  </a:ext>
                </a:extLst>
              </a:tr>
              <a:tr h="322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/>
                        <a:t>Total Tickets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/>
                        <a:t>Count all ticket rows</a:t>
                      </a:r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Courier New" panose="02070309020205020404" pitchFamily="49" charset="0"/>
                        </a:rPr>
                        <a:t>=COUNTA(A:A)-1</a:t>
                      </a:r>
                      <a:endParaRPr lang="en-IN" sz="1300" b="0" dirty="0"/>
                    </a:p>
                  </a:txBody>
                  <a:tcPr marL="68575" marR="68575" marT="34288" marB="3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743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0250F-3B52-C2AB-8E88-98787DFA8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77" y="239914"/>
            <a:ext cx="8229600" cy="4968694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26" name="Content Placeholder 25">
            <a:extLst>
              <a:ext uri="{FF2B5EF4-FFF2-40B4-BE49-F238E27FC236}">
                <a16:creationId xmlns:a16="http://schemas.microsoft.com/office/drawing/2014/main" id="{3AA15F97-311C-3DA8-620B-B6CDDA8A40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181619"/>
              </p:ext>
            </p:extLst>
          </p:nvPr>
        </p:nvGraphicFramePr>
        <p:xfrm>
          <a:off x="214133" y="26041"/>
          <a:ext cx="8229600" cy="659204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7297682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8449899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12889799"/>
                    </a:ext>
                  </a:extLst>
                </a:gridCol>
              </a:tblGrid>
              <a:tr h="634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Overdue Tickets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Count tickets marked as "Overdue"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J:J,"Overdue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268404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Completed Tickets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all completed tickets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D:D,"Completed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363590"/>
                  </a:ext>
                </a:extLst>
              </a:tr>
              <a:tr h="33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High Priority Tickets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high-priority records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C:C,"High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13562"/>
                  </a:ext>
                </a:extLst>
              </a:tr>
              <a:tr h="621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Tickets With Comments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non-empty comments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=COUNTIF(K:K,"&lt;&gt;")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9639880"/>
                  </a:ext>
                </a:extLst>
              </a:tr>
              <a:tr h="536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Status Count – New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New tickets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D:D,"New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927435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Status Count – Assigned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Count Assigned tickets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D:D,"Assigned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702775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Status Count – In Progress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In Progress tickets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D:D,"In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 Progress")</a:t>
                      </a:r>
                      <a:endParaRPr lang="en-US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874946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Status Count – Closed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Count Closed tickets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D:D,"Closed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558099"/>
                  </a:ext>
                </a:extLst>
              </a:tr>
              <a:tr h="33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Priority Count – High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High priority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C:C,"High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562396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Priority Count – Medium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Medium priority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C:C,"Medium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097828"/>
                  </a:ext>
                </a:extLst>
              </a:tr>
              <a:tr h="331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Priority Count – Low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Low priority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C:C,"Low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735051"/>
                  </a:ext>
                </a:extLst>
              </a:tr>
              <a:tr h="634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Overdue Group – Overdue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 Overdue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J:J,"Overdue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784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85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A960-52D4-D9BB-56AF-26F092E8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9C0682-B331-2203-98C7-7AD824BE7E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394911"/>
              </p:ext>
            </p:extLst>
          </p:nvPr>
        </p:nvGraphicFramePr>
        <p:xfrm>
          <a:off x="295156" y="1131163"/>
          <a:ext cx="8229600" cy="54085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27929649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065758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82344971"/>
                    </a:ext>
                  </a:extLst>
                </a:gridCol>
              </a:tblGrid>
              <a:tr h="1322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Overdue Group – On-Time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Count On-Time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J:J,"On-Time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431583"/>
                  </a:ext>
                </a:extLst>
              </a:tr>
              <a:tr h="1322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Agent Workload – Lokesh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Count tickets assigned to Lokesh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E:E,"Lokesh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045042"/>
                  </a:ext>
                </a:extLst>
              </a:tr>
              <a:tr h="690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Agent Workload – Sneha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Count tickets assigned to Sneha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E:E,"Sneha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110234"/>
                  </a:ext>
                </a:extLst>
              </a:tr>
              <a:tr h="690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Agent Workload – Arjun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Count tickets assigned to Arjun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E:E,"Arjun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7887"/>
                  </a:ext>
                </a:extLst>
              </a:tr>
              <a:tr h="690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Agent Workload – Rahul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Count tickets assigned to Rahul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E:E,"Rahul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745361"/>
                  </a:ext>
                </a:extLst>
              </a:tr>
              <a:tr h="690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Agent Workload – Nisha</a:t>
                      </a:r>
                      <a:endParaRPr lang="en-IN" sz="160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Count tickets assigned to Nisha</a:t>
                      </a:r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ourier New" panose="02070309020205020404" pitchFamily="49" charset="0"/>
                        </a:rPr>
                        <a:t>=COUNTIF(</a:t>
                      </a:r>
                      <a:r>
                        <a:rPr lang="en-IN" sz="1600" dirty="0" err="1">
                          <a:latin typeface="Courier New" panose="02070309020205020404" pitchFamily="49" charset="0"/>
                        </a:rPr>
                        <a:t>E:E,"Nisha</a:t>
                      </a:r>
                      <a:r>
                        <a:rPr lang="en-IN" sz="1600" dirty="0">
                          <a:latin typeface="Courier New" panose="02070309020205020404" pitchFamily="49" charset="0"/>
                        </a:rPr>
                        <a:t>")</a:t>
                      </a:r>
                      <a:endParaRPr lang="en-IN" sz="1600" dirty="0"/>
                    </a:p>
                  </a:txBody>
                  <a:tcPr marL="22744" marR="22744" marT="11372" marB="11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611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03770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36</TotalTime>
  <Words>695</Words>
  <Application>Microsoft Office PowerPoint</Application>
  <PresentationFormat>On-screen Show (4:3)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Courier New</vt:lpstr>
      <vt:lpstr>Segoe UI</vt:lpstr>
      <vt:lpstr>Wingdings</vt:lpstr>
      <vt:lpstr>Vapor Trail</vt:lpstr>
      <vt:lpstr>Dashboard Overview – Ticket Management System</vt:lpstr>
      <vt:lpstr>Project Introduction </vt:lpstr>
      <vt:lpstr>PowerPoint Presentation</vt:lpstr>
      <vt:lpstr>Dashboard Highlights ⭐</vt:lpstr>
      <vt:lpstr>Pie-Charts</vt:lpstr>
      <vt:lpstr>Bar - Charts</vt:lpstr>
      <vt:lpstr>Dashboard Visual</vt:lpstr>
      <vt:lpstr>All Excel Formulas Used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Bainaboina</dc:creator>
  <cp:keywords/>
  <dc:description>generated using python-pptx</dc:description>
  <cp:lastModifiedBy>Lokesh Bainaboina</cp:lastModifiedBy>
  <cp:revision>2</cp:revision>
  <dcterms:created xsi:type="dcterms:W3CDTF">2013-01-27T09:14:16Z</dcterms:created>
  <dcterms:modified xsi:type="dcterms:W3CDTF">2025-11-20T21:40:36Z</dcterms:modified>
  <cp:category/>
</cp:coreProperties>
</file>